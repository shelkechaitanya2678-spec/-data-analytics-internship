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9" r:id="rId15"/>
    <p:sldId id="348" r:id="rId16"/>
    <p:sldId id="347"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0" d="100"/>
          <a:sy n="70" d="100"/>
        </p:scale>
        <p:origin x="654"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22829" y="3632027"/>
            <a:ext cx="8488908" cy="1590773"/>
          </a:xfrm>
        </p:spPr>
        <p:txBody>
          <a:bodyPr vert="horz" lIns="91440" tIns="45720" rIns="91440" bIns="45720" rtlCol="0" anchor="t">
            <a:normAutofit/>
          </a:bodyPr>
          <a:lstStyle/>
          <a:p>
            <a:r>
              <a:rPr lang="en-US" sz="2400" dirty="0">
                <a:solidFill>
                  <a:schemeClr val="tx1"/>
                </a:solidFill>
                <a:latin typeface="Times New Roman" panose="02020603050405020304" pitchFamily="18" charset="0"/>
                <a:cs typeface="Times New Roman" panose="02020603050405020304" pitchFamily="18" charset="0"/>
              </a:rPr>
              <a:t>Student Name</a:t>
            </a:r>
            <a:r>
              <a:rPr lang="en-US" sz="2400" b="0" dirty="0">
                <a:solidFill>
                  <a:schemeClr val="tx1"/>
                </a:solidFill>
                <a:latin typeface="Times New Roman" panose="02020603050405020304" pitchFamily="18" charset="0"/>
                <a:cs typeface="Times New Roman" panose="02020603050405020304" pitchFamily="18" charset="0"/>
              </a:rPr>
              <a:t>: Shelke Chaitanya Raju</a:t>
            </a:r>
          </a:p>
          <a:p>
            <a:r>
              <a:rPr lang="en-US" sz="2400" dirty="0">
                <a:solidFill>
                  <a:schemeClr val="tx1"/>
                </a:solidFill>
                <a:latin typeface="Times New Roman" panose="02020603050405020304" pitchFamily="18" charset="0"/>
                <a:cs typeface="Times New Roman" panose="02020603050405020304" pitchFamily="18" charset="0"/>
              </a:rPr>
              <a:t>College Name</a:t>
            </a:r>
            <a:r>
              <a:rPr lang="en-US" sz="2400" b="0" dirty="0">
                <a:solidFill>
                  <a:schemeClr val="tx1"/>
                </a:solidFill>
                <a:latin typeface="Times New Roman" panose="02020603050405020304" pitchFamily="18" charset="0"/>
                <a:cs typeface="Times New Roman" panose="02020603050405020304" pitchFamily="18" charset="0"/>
              </a:rPr>
              <a:t>: Sanjivani College Of Engineering </a:t>
            </a:r>
            <a:r>
              <a:rPr lang="en-US" sz="2400" b="0" dirty="0" err="1">
                <a:solidFill>
                  <a:schemeClr val="tx1"/>
                </a:solidFill>
                <a:latin typeface="Times New Roman" panose="02020603050405020304" pitchFamily="18" charset="0"/>
                <a:cs typeface="Times New Roman" panose="02020603050405020304" pitchFamily="18" charset="0"/>
              </a:rPr>
              <a:t>Koparagon</a:t>
            </a:r>
            <a:endParaRPr lang="en-US" sz="2400"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182125" y="265322"/>
            <a:ext cx="4835332" cy="1590773"/>
          </a:xfrm>
        </p:spPr>
        <p:txBody>
          <a:bodyPr>
            <a:normAutofit/>
          </a:bodyPr>
          <a:lstStyle/>
          <a:p>
            <a:r>
              <a:rPr lang="en-GB" sz="3200" dirty="0">
                <a:latin typeface="Times New Roman" panose="02020603050405020304" pitchFamily="18" charset="0"/>
                <a:cs typeface="Times New Roman" panose="02020603050405020304" pitchFamily="18" charset="0"/>
              </a:rPr>
              <a:t>Project Title - Seasonal Agriculture Performance Analysis</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22828" y="4618481"/>
            <a:ext cx="773828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AICTE STU ID : </a:t>
            </a:r>
            <a:r>
              <a:rPr lang="en-US" sz="2400" dirty="0">
                <a:latin typeface="Times New Roman" panose="02020603050405020304" pitchFamily="18" charset="0"/>
                <a:cs typeface="Times New Roman" panose="02020603050405020304" pitchFamily="18" charset="0"/>
              </a:rPr>
              <a:t>STU698b6b3da80ae1770744637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8019577" cy="4967790"/>
          </a:xfrm>
        </p:spPr>
        <p:txBody>
          <a:bodyPr wrap="square">
            <a:noAutofit/>
          </a:bodyPr>
          <a:lstStyle/>
          <a:p>
            <a:r>
              <a:rPr lang="en-GB" sz="4000" b="1" dirty="0">
                <a:latin typeface="Times New Roman" panose="02020603050405020304" pitchFamily="18" charset="0"/>
                <a:cs typeface="Times New Roman" panose="02020603050405020304" pitchFamily="18" charset="0"/>
              </a:rPr>
              <a:t>Project Description</a:t>
            </a:r>
            <a:br>
              <a:rPr lang="en-GB" dirty="0">
                <a:latin typeface="Times New Roman" panose="02020603050405020304" pitchFamily="18" charset="0"/>
                <a:cs typeface="Times New Roman" panose="02020603050405020304" pitchFamily="18" charset="0"/>
              </a:rPr>
            </a:br>
            <a:r>
              <a:rPr lang="en-GB" sz="2000" b="0" dirty="0">
                <a:latin typeface="Times New Roman" panose="02020603050405020304" pitchFamily="18" charset="0"/>
                <a:cs typeface="Times New Roman" panose="02020603050405020304" pitchFamily="18" charset="0"/>
              </a:rPr>
              <a:t>This project analyzes a dataset of 4,000 farm records across three cropping seasons (Kharif, Rabi, Zaid), 8 Indian states, and 8 crops, to uncover how environmental conditions, resource usage, and economic outcomes vary seasonally. After cleaning and preparing the data, statistical tests (ANOVA, correlation) and visualizations (box plots, heatmaps, bar charts) were used to compare seasons on yield, profitability, water efficiency, and disease/pest risk. The analysis reveals that profitability - not raw yield - is the sharpest seasonal differentiator, with the Zaid season showing the highest share of loss-making farms due to low rainfall and high irrigation dependency. Findings are translated into actionable, evidence-based recommendations for seasonal agricultural planning.</a:t>
            </a:r>
            <a:br>
              <a:rPr lang="en-GB"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fontScale="92500" lnSpcReduction="20000"/>
          </a:bodyPr>
          <a:lstStyle/>
          <a:p>
            <a:pPr algn="l">
              <a:lnSpc>
                <a:spcPct val="150000"/>
              </a:lnSpc>
              <a:spcAft>
                <a:spcPts val="1000"/>
              </a:spcAft>
            </a:pPr>
            <a:r>
              <a:rPr sz="2200" dirty="0">
                <a:solidFill>
                  <a:srgbClr val="222222"/>
                </a:solidFill>
                <a:latin typeface="Times New Roman" panose="02020603050405020304" pitchFamily="18" charset="0"/>
                <a:cs typeface="Times New Roman" panose="02020603050405020304" pitchFamily="18" charset="0"/>
              </a:rPr>
              <a:t>Farmers &amp; farming cooperatives - to choose crops, irrigation methods, and inputs suited to each season</a:t>
            </a:r>
            <a:endParaRPr lang="en-IN" sz="4300" dirty="0">
              <a:latin typeface="Times New Roman" panose="02020603050405020304" pitchFamily="18" charset="0"/>
              <a:cs typeface="Times New Roman" panose="02020603050405020304" pitchFamily="18" charset="0"/>
            </a:endParaRPr>
          </a:p>
          <a:p>
            <a:pPr algn="l">
              <a:spcAft>
                <a:spcPts val="1000"/>
              </a:spcAft>
            </a:pPr>
            <a:r>
              <a:rPr sz="2200" dirty="0">
                <a:solidFill>
                  <a:srgbClr val="222222"/>
                </a:solidFill>
                <a:latin typeface="Times New Roman" panose="02020603050405020304" pitchFamily="18" charset="0"/>
                <a:cs typeface="Times New Roman" panose="02020603050405020304" pitchFamily="18" charset="0"/>
              </a:rPr>
              <a:t>Agricultural policy makers &amp; government departments - to design season-specific support schemes and subsidies</a:t>
            </a:r>
          </a:p>
          <a:p>
            <a:pPr algn="l">
              <a:spcAft>
                <a:spcPts val="1000"/>
              </a:spcAft>
            </a:pPr>
            <a:r>
              <a:rPr sz="2200" dirty="0">
                <a:solidFill>
                  <a:srgbClr val="222222"/>
                </a:solidFill>
                <a:latin typeface="Times New Roman" panose="02020603050405020304" pitchFamily="18" charset="0"/>
                <a:cs typeface="Times New Roman" panose="02020603050405020304" pitchFamily="18" charset="0"/>
              </a:rPr>
              <a:t>Agribusinesses &amp; input suppliers (seed, fertilizer, irrigation equipment) - to plan seasonal demand and offerings</a:t>
            </a:r>
          </a:p>
          <a:p>
            <a:pPr algn="l">
              <a:spcAft>
                <a:spcPts val="1000"/>
              </a:spcAft>
            </a:pPr>
            <a:r>
              <a:rPr sz="2200" dirty="0">
                <a:solidFill>
                  <a:srgbClr val="222222"/>
                </a:solidFill>
                <a:latin typeface="Times New Roman" panose="02020603050405020304" pitchFamily="18" charset="0"/>
                <a:cs typeface="Times New Roman" panose="02020603050405020304" pitchFamily="18" charset="0"/>
              </a:rPr>
              <a:t>Agricultural banks &amp; insurance providers - to assess seasonal risk when offering credit or crop insurance</a:t>
            </a:r>
          </a:p>
          <a:p>
            <a:pPr algn="l">
              <a:spcAft>
                <a:spcPts val="1000"/>
              </a:spcAft>
            </a:pPr>
            <a:r>
              <a:rPr sz="2200" dirty="0">
                <a:solidFill>
                  <a:srgbClr val="222222"/>
                </a:solidFill>
                <a:latin typeface="Times New Roman" panose="02020603050405020304" pitchFamily="18" charset="0"/>
                <a:cs typeface="Times New Roman" panose="02020603050405020304" pitchFamily="18" charset="0"/>
              </a:rPr>
              <a:t>Agricultural researchers &amp; extension officers - to guide farmers with evidence-based seasonal practices</a:t>
            </a:r>
            <a:endParaRPr sz="1800" dirty="0">
              <a:solidFill>
                <a:srgbClr val="222222"/>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pPr algn="l"/>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0149840" y="3657600"/>
            <a:ext cx="1371600" cy="238658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wrap="square">
            <a:noAutofit/>
          </a:bodyPr>
          <a:lstStyle/>
          <a:p>
            <a:pPr marL="0" indent="0" algn="l">
              <a:lnSpc>
                <a:spcPct val="150000"/>
              </a:lnSpc>
              <a:spcAft>
                <a:spcPts val="1000"/>
              </a:spcAft>
            </a:pPr>
            <a:r>
              <a:rPr dirty="0">
                <a:solidFill>
                  <a:srgbClr val="222222"/>
                </a:solidFill>
                <a:latin typeface="Times New Roman" panose="02020603050405020304" pitchFamily="18" charset="0"/>
                <a:cs typeface="Times New Roman" panose="02020603050405020304" pitchFamily="18" charset="0"/>
              </a:rPr>
              <a:t>Python 3 - core programming language for the analysis</a:t>
            </a:r>
            <a:endParaRPr lang="en-IN" sz="2800" dirty="0">
              <a:latin typeface="Times New Roman" panose="02020603050405020304" pitchFamily="18" charset="0"/>
              <a:cs typeface="Times New Roman" panose="02020603050405020304" pitchFamily="18" charset="0"/>
            </a:endParaRPr>
          </a:p>
          <a:p>
            <a:pPr marL="0" indent="0" algn="l">
              <a:spcAft>
                <a:spcPts val="1000"/>
              </a:spcAft>
            </a:pPr>
            <a:r>
              <a:rPr dirty="0">
                <a:solidFill>
                  <a:srgbClr val="222222"/>
                </a:solidFill>
                <a:latin typeface="Times New Roman" panose="02020603050405020304" pitchFamily="18" charset="0"/>
                <a:cs typeface="Times New Roman" panose="02020603050405020304" pitchFamily="18" charset="0"/>
              </a:rPr>
              <a:t>Pandas &amp; NumPy - data cleaning, transformation, and aggregation</a:t>
            </a:r>
          </a:p>
          <a:p>
            <a:pPr marL="0" indent="0" algn="l">
              <a:spcAft>
                <a:spcPts val="1000"/>
              </a:spcAft>
            </a:pPr>
            <a:r>
              <a:rPr dirty="0">
                <a:solidFill>
                  <a:srgbClr val="222222"/>
                </a:solidFill>
                <a:latin typeface="Times New Roman" panose="02020603050405020304" pitchFamily="18" charset="0"/>
                <a:cs typeface="Times New Roman" panose="02020603050405020304" pitchFamily="18" charset="0"/>
              </a:rPr>
              <a:t>Matplotlib &amp; Seaborn - statistical visualizations (box plots, heatmaps, bar/violin charts)</a:t>
            </a:r>
          </a:p>
          <a:p>
            <a:pPr marL="0" indent="0" algn="l">
              <a:spcAft>
                <a:spcPts val="1000"/>
              </a:spcAft>
            </a:pPr>
            <a:r>
              <a:rPr dirty="0">
                <a:solidFill>
                  <a:srgbClr val="222222"/>
                </a:solidFill>
                <a:latin typeface="Times New Roman" panose="02020603050405020304" pitchFamily="18" charset="0"/>
                <a:cs typeface="Times New Roman" panose="02020603050405020304" pitchFamily="18" charset="0"/>
              </a:rPr>
              <a:t>SciPy (stats module) - hypothesis testing (one-way ANOVA, Pearson correlation)</a:t>
            </a:r>
          </a:p>
          <a:p>
            <a:pPr marL="0" indent="0" algn="l">
              <a:spcAft>
                <a:spcPts val="1000"/>
              </a:spcAft>
            </a:pPr>
            <a:r>
              <a:rPr dirty="0">
                <a:solidFill>
                  <a:srgbClr val="222222"/>
                </a:solidFill>
                <a:latin typeface="Times New Roman" panose="02020603050405020304" pitchFamily="18" charset="0"/>
                <a:cs typeface="Times New Roman" panose="02020603050405020304" pitchFamily="18" charset="0"/>
              </a:rPr>
              <a:t>Jupyter Notebook - end-to-end documentation of the analysis workflow</a:t>
            </a:r>
          </a:p>
          <a:p>
            <a:pPr marL="0" indent="0" algn="l">
              <a:spcAft>
                <a:spcPts val="1000"/>
              </a:spcAft>
            </a:pPr>
            <a:r>
              <a:rPr dirty="0">
                <a:solidFill>
                  <a:srgbClr val="222222"/>
                </a:solidFill>
                <a:latin typeface="Times New Roman" panose="02020603050405020304" pitchFamily="18" charset="0"/>
                <a:cs typeface="Times New Roman" panose="02020603050405020304" pitchFamily="18" charset="0"/>
              </a:rPr>
              <a:t>Microsoft PowerPoint - presentation of findings and recommendations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pPr algn="l"/>
            <a:r>
              <a:rPr lang="en-US"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02920" y="320040"/>
            <a:ext cx="9601200" cy="822960"/>
          </a:xfrm>
        </p:spPr>
        <p:txBody>
          <a:bodyPr>
            <a:normAutofit/>
          </a:bodyPr>
          <a:lstStyle/>
          <a:p>
            <a:r>
              <a:rPr lang="en-GB" sz="3200" dirty="0"/>
              <a:t>1. Yield Performance by Season</a:t>
            </a:r>
            <a:endParaRPr lang="en-IN" sz="54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01_yield_by_season.png"/>
          <p:cNvPicPr>
            <a:picLocks noChangeAspect="1"/>
          </p:cNvPicPr>
          <p:nvPr/>
        </p:nvPicPr>
        <p:blipFill>
          <a:blip r:embed="rId3"/>
          <a:stretch>
            <a:fillRect/>
          </a:stretch>
        </p:blipFill>
        <p:spPr>
          <a:xfrm>
            <a:off x="502920" y="2148840"/>
            <a:ext cx="6080760" cy="4343400"/>
          </a:xfrm>
          <a:prstGeom prst="rect">
            <a:avLst/>
          </a:prstGeom>
        </p:spPr>
      </p:pic>
      <p:sp>
        <p:nvSpPr>
          <p:cNvPr id="25" name="TextBox 24"/>
          <p:cNvSpPr txBox="1"/>
          <p:nvPr/>
        </p:nvSpPr>
        <p:spPr>
          <a:xfrm>
            <a:off x="605671" y="1342009"/>
            <a:ext cx="8503920" cy="685800"/>
          </a:xfrm>
          <a:prstGeom prst="rect">
            <a:avLst/>
          </a:prstGeom>
          <a:noFill/>
        </p:spPr>
        <p:txBody>
          <a:bodyPr wrap="square">
            <a:noAutofit/>
          </a:bodyPr>
          <a:lstStyle/>
          <a:p>
            <a:r>
              <a:rPr sz="2000" i="1" dirty="0">
                <a:solidFill>
                  <a:srgbClr val="404040"/>
                </a:solidFill>
                <a:latin typeface="Times New Roman" panose="02020603050405020304" pitchFamily="18" charset="0"/>
                <a:cs typeface="Times New Roman" panose="02020603050405020304" pitchFamily="18" charset="0"/>
              </a:rPr>
              <a:t>Kharif shows the strongest relative yield; ANOVA shows no significant difference in raw yield across seasons (p=0.23).</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502920" y="320040"/>
            <a:ext cx="9601200" cy="822960"/>
          </a:xfrm>
        </p:spPr>
        <p:txBody>
          <a:bodyPr>
            <a:normAutofit/>
          </a:bodyPr>
          <a:lstStyle/>
          <a:p>
            <a:r>
              <a:rPr lang="en-GB" sz="4000" dirty="0"/>
              <a:t>2. Profitability by Season</a:t>
            </a:r>
            <a:endParaRPr lang="en-IN" sz="66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02920" y="1417320"/>
            <a:ext cx="8503920" cy="685800"/>
          </a:xfrm>
        </p:spPr>
        <p:txBody>
          <a:bodyPr wrap="square">
            <a:noAutofit/>
          </a:bodyPr>
          <a:lstStyle/>
          <a:p>
            <a:pPr marL="0" indent="0">
              <a:buNone/>
            </a:pPr>
            <a:r>
              <a:rPr lang="en-US" i="1" dirty="0">
                <a:solidFill>
                  <a:srgbClr val="404040"/>
                </a:solidFill>
              </a:rPr>
              <a:t>Profit differs sharply by season (ANOVA p&lt;0.001) - average profit falls steadily from Kharif to Zaid.</a:t>
            </a:r>
            <a:endParaRPr lang="en-IN" sz="3200" dirty="0"/>
          </a:p>
        </p:txBody>
      </p:sp>
      <p:pic>
        <p:nvPicPr>
          <p:cNvPr id="31" name="Picture 30" descr="02_profit_by_season.png"/>
          <p:cNvPicPr>
            <a:picLocks noChangeAspect="1"/>
          </p:cNvPicPr>
          <p:nvPr/>
        </p:nvPicPr>
        <p:blipFill>
          <a:blip r:embed="rId3"/>
          <a:stretch>
            <a:fillRect/>
          </a:stretch>
        </p:blipFill>
        <p:spPr>
          <a:xfrm>
            <a:off x="502920" y="2148840"/>
            <a:ext cx="6080760" cy="43434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502920" y="320040"/>
            <a:ext cx="9601200" cy="822960"/>
          </a:xfrm>
        </p:spPr>
        <p:txBody>
          <a:bodyPr>
            <a:normAutofit/>
          </a:bodyPr>
          <a:lstStyle/>
          <a:p>
            <a:r>
              <a:rPr lang="en-GB" sz="2800" dirty="0">
                <a:latin typeface="Times New Roman" panose="02020603050405020304" pitchFamily="18" charset="0"/>
                <a:cs typeface="Times New Roman" panose="02020603050405020304" pitchFamily="18" charset="0"/>
              </a:rPr>
              <a:t>3. Rainfall &amp; Temperature by Season</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502920" y="1417320"/>
            <a:ext cx="8503920" cy="685800"/>
          </a:xfrm>
        </p:spPr>
        <p:txBody>
          <a:bodyPr wrap="square">
            <a:noAutofit/>
          </a:bodyPr>
          <a:lstStyle/>
          <a:p>
            <a:pPr marL="0" indent="0">
              <a:buNone/>
            </a:pPr>
            <a:r>
              <a:rPr lang="en-US" i="1" dirty="0">
                <a:solidFill>
                  <a:srgbClr val="404040"/>
                </a:solidFill>
                <a:latin typeface="Times New Roman" panose="02020603050405020304" pitchFamily="18" charset="0"/>
                <a:cs typeface="Times New Roman" panose="02020603050405020304" pitchFamily="18" charset="0"/>
              </a:rPr>
              <a:t>Zaid receives roughly half the rainfall of Kharif while running hotter, forcing heavier irrigation dependence.</a:t>
            </a:r>
            <a:endParaRPr lang="en-IN" sz="3200" dirty="0">
              <a:latin typeface="Times New Roman" panose="02020603050405020304" pitchFamily="18" charset="0"/>
              <a:cs typeface="Times New Roman" panose="02020603050405020304" pitchFamily="18" charset="0"/>
            </a:endParaRPr>
          </a:p>
        </p:txBody>
      </p:sp>
      <p:pic>
        <p:nvPicPr>
          <p:cNvPr id="31" name="Picture 30" descr="03_rainfall_temp_season.png"/>
          <p:cNvPicPr>
            <a:picLocks noChangeAspect="1"/>
          </p:cNvPicPr>
          <p:nvPr/>
        </p:nvPicPr>
        <p:blipFill>
          <a:blip r:embed="rId3"/>
          <a:stretch>
            <a:fillRect/>
          </a:stretch>
        </p:blipFill>
        <p:spPr>
          <a:xfrm>
            <a:off x="502920" y="2148840"/>
            <a:ext cx="6080760" cy="43434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502920" y="320040"/>
            <a:ext cx="9601200" cy="822960"/>
          </a:xfrm>
        </p:spPr>
        <p:txBody>
          <a:bodyPr>
            <a:normAutofit/>
          </a:bodyPr>
          <a:lstStyle/>
          <a:p>
            <a:r>
              <a:rPr lang="en-GB" sz="2800" dirty="0">
                <a:latin typeface="Times New Roman" panose="02020603050405020304" pitchFamily="18" charset="0"/>
                <a:cs typeface="Times New Roman" panose="02020603050405020304" pitchFamily="18" charset="0"/>
              </a:rPr>
              <a:t>4. Water Efficiency by Irrigation Method</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502920" y="1417320"/>
            <a:ext cx="8503920" cy="685800"/>
          </a:xfrm>
        </p:spPr>
        <p:txBody>
          <a:bodyPr wrap="square">
            <a:noAutofit/>
          </a:bodyPr>
          <a:lstStyle/>
          <a:p>
            <a:pPr marL="0" indent="0">
              <a:buNone/>
            </a:pPr>
            <a:r>
              <a:rPr lang="en-US" i="1" dirty="0">
                <a:solidFill>
                  <a:srgbClr val="404040"/>
                </a:solidFill>
                <a:latin typeface="Times New Roman" panose="02020603050405020304" pitchFamily="18" charset="0"/>
                <a:cs typeface="Times New Roman" panose="02020603050405020304" pitchFamily="18" charset="0"/>
              </a:rPr>
              <a:t>Rainfed and Drip irrigation are the most water-efficient methods across every season; Flood is the least efficient.</a:t>
            </a:r>
            <a:endParaRPr lang="en-IN" sz="3200" dirty="0">
              <a:latin typeface="Times New Roman" panose="02020603050405020304" pitchFamily="18" charset="0"/>
              <a:cs typeface="Times New Roman" panose="02020603050405020304" pitchFamily="18" charset="0"/>
            </a:endParaRPr>
          </a:p>
        </p:txBody>
      </p:sp>
      <p:pic>
        <p:nvPicPr>
          <p:cNvPr id="31" name="Picture 30" descr="04_water_efficiency_heatmap.png"/>
          <p:cNvPicPr>
            <a:picLocks noChangeAspect="1"/>
          </p:cNvPicPr>
          <p:nvPr/>
        </p:nvPicPr>
        <p:blipFill>
          <a:blip r:embed="rId3"/>
          <a:stretch>
            <a:fillRect/>
          </a:stretch>
        </p:blipFill>
        <p:spPr>
          <a:xfrm>
            <a:off x="502920" y="2148840"/>
            <a:ext cx="6080760" cy="43434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02920" y="320040"/>
            <a:ext cx="9601200" cy="822960"/>
          </a:xfrm>
        </p:spPr>
        <p:txBody>
          <a:bodyPr>
            <a:normAutofit/>
          </a:bodyPr>
          <a:lstStyle/>
          <a:p>
            <a:r>
              <a:rPr lang="en-GB" sz="2800" dirty="0">
                <a:latin typeface="Times New Roman" panose="02020603050405020304" pitchFamily="18" charset="0"/>
                <a:cs typeface="Times New Roman" panose="02020603050405020304" pitchFamily="18" charset="0"/>
              </a:rPr>
              <a:t>5. Correlation Between Key Variables</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02920" y="1417320"/>
            <a:ext cx="8503920" cy="685800"/>
          </a:xfrm>
        </p:spPr>
        <p:txBody>
          <a:bodyPr wrap="square">
            <a:noAutofit/>
          </a:bodyPr>
          <a:lstStyle/>
          <a:p>
            <a:pPr marL="0" indent="0">
              <a:buNone/>
            </a:pPr>
            <a:r>
              <a:rPr lang="en-US" i="1" dirty="0">
                <a:solidFill>
                  <a:srgbClr val="404040"/>
                </a:solidFill>
                <a:latin typeface="Times New Roman" panose="02020603050405020304" pitchFamily="18" charset="0"/>
                <a:cs typeface="Times New Roman" panose="02020603050405020304" pitchFamily="18" charset="0"/>
              </a:rPr>
              <a:t>Water used correlates with yield (r=0.39); rainfall alone shows little direct correlation, since irrigation compensates.</a:t>
            </a:r>
            <a:endParaRPr lang="en-IN" sz="3200" dirty="0">
              <a:latin typeface="Times New Roman" panose="02020603050405020304" pitchFamily="18" charset="0"/>
              <a:cs typeface="Times New Roman" panose="02020603050405020304" pitchFamily="18" charset="0"/>
            </a:endParaRPr>
          </a:p>
        </p:txBody>
      </p:sp>
      <p:pic>
        <p:nvPicPr>
          <p:cNvPr id="31" name="Picture 30" descr="05_correlation_heatmap.png"/>
          <p:cNvPicPr>
            <a:picLocks noChangeAspect="1"/>
          </p:cNvPicPr>
          <p:nvPr/>
        </p:nvPicPr>
        <p:blipFill>
          <a:blip r:embed="rId3"/>
          <a:stretch>
            <a:fillRect/>
          </a:stretch>
        </p:blipFill>
        <p:spPr>
          <a:xfrm>
            <a:off x="502920" y="2148840"/>
            <a:ext cx="5584371" cy="43434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02920" y="320040"/>
            <a:ext cx="9601200" cy="822960"/>
          </a:xfrm>
        </p:spPr>
        <p:txBody>
          <a:bodyPr>
            <a:normAutofit/>
          </a:bodyPr>
          <a:lstStyle/>
          <a:p>
            <a:r>
              <a:rPr lang="en-GB" sz="2800" dirty="0"/>
              <a:t>6. Average Yield by Crop Across Seasons</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02920" y="1417320"/>
            <a:ext cx="8503920" cy="685800"/>
          </a:xfrm>
        </p:spPr>
        <p:txBody>
          <a:bodyPr wrap="square">
            <a:noAutofit/>
          </a:bodyPr>
          <a:lstStyle/>
          <a:p>
            <a:pPr marL="0" indent="0">
              <a:buNone/>
            </a:pPr>
            <a:r>
              <a:rPr lang="en-US" i="1" dirty="0">
                <a:solidFill>
                  <a:srgbClr val="404040"/>
                </a:solidFill>
                <a:latin typeface="Times New Roman" panose="02020603050405020304" pitchFamily="18" charset="0"/>
                <a:cs typeface="Times New Roman" panose="02020603050405020304" pitchFamily="18" charset="0"/>
              </a:rPr>
              <a:t>Sugarcane yields far exceed other crops; all crops show a mild yield decline from Kharif to Zaid.</a:t>
            </a:r>
            <a:endParaRPr lang="en-IN" sz="3200" dirty="0">
              <a:latin typeface="Times New Roman" panose="02020603050405020304" pitchFamily="18" charset="0"/>
              <a:cs typeface="Times New Roman" panose="02020603050405020304" pitchFamily="18" charset="0"/>
            </a:endParaRPr>
          </a:p>
        </p:txBody>
      </p:sp>
      <p:pic>
        <p:nvPicPr>
          <p:cNvPr id="31" name="Picture 30" descr="06_crop_yield_season.png"/>
          <p:cNvPicPr>
            <a:picLocks noChangeAspect="1"/>
          </p:cNvPicPr>
          <p:nvPr/>
        </p:nvPicPr>
        <p:blipFill>
          <a:blip r:embed="rId3"/>
          <a:stretch>
            <a:fillRect/>
          </a:stretch>
        </p:blipFill>
        <p:spPr>
          <a:xfrm>
            <a:off x="502920" y="2148840"/>
            <a:ext cx="7350370" cy="43434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02920" y="320040"/>
            <a:ext cx="9601200" cy="822960"/>
          </a:xfrm>
        </p:spPr>
        <p:txBody>
          <a:bodyPr>
            <a:normAutofit/>
          </a:bodyPr>
          <a:lstStyle/>
          <a:p>
            <a:r>
              <a:rPr lang="en-GB" sz="2800" dirty="0"/>
              <a:t>7. Disease &amp; Pest Risk by Season</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02920" y="1417320"/>
            <a:ext cx="8503920" cy="685800"/>
          </a:xfrm>
        </p:spPr>
        <p:txBody>
          <a:bodyPr wrap="square">
            <a:noAutofit/>
          </a:bodyPr>
          <a:lstStyle/>
          <a:p>
            <a:pPr marL="0" indent="0">
              <a:buNone/>
            </a:pPr>
            <a:r>
              <a:rPr lang="en-US" i="1" dirty="0">
                <a:solidFill>
                  <a:srgbClr val="404040"/>
                </a:solidFill>
                <a:latin typeface="Times New Roman" panose="02020603050405020304" pitchFamily="18" charset="0"/>
                <a:cs typeface="Times New Roman" panose="02020603050405020304" pitchFamily="18" charset="0"/>
              </a:rPr>
              <a:t>Kharif carries the highest disease/pest risk (54%) due to humid monsoon conditions; Zaid the lowest (38%).</a:t>
            </a:r>
            <a:endParaRPr lang="en-IN" sz="3200" dirty="0">
              <a:latin typeface="Times New Roman" panose="02020603050405020304" pitchFamily="18" charset="0"/>
              <a:cs typeface="Times New Roman" panose="02020603050405020304" pitchFamily="18" charset="0"/>
            </a:endParaRPr>
          </a:p>
        </p:txBody>
      </p:sp>
      <p:pic>
        <p:nvPicPr>
          <p:cNvPr id="31" name="Picture 30" descr="07_disease_risk_season.png"/>
          <p:cNvPicPr>
            <a:picLocks noChangeAspect="1"/>
          </p:cNvPicPr>
          <p:nvPr/>
        </p:nvPicPr>
        <p:blipFill>
          <a:blip r:embed="rId3"/>
          <a:stretch>
            <a:fillRect/>
          </a:stretch>
        </p:blipFill>
        <p:spPr>
          <a:xfrm>
            <a:off x="502920" y="2148840"/>
            <a:ext cx="6080760" cy="43434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02920" y="320040"/>
            <a:ext cx="9601200" cy="822960"/>
          </a:xfrm>
        </p:spPr>
        <p:txBody>
          <a:bodyPr>
            <a:normAutofit/>
          </a:bodyPr>
          <a:lstStyle/>
          <a:p>
            <a:r>
              <a:rPr lang="en-GB" sz="2800" dirty="0"/>
              <a:t>8. State-wise Profit by Season</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02920" y="1417320"/>
            <a:ext cx="8503920" cy="685800"/>
          </a:xfrm>
        </p:spPr>
        <p:txBody>
          <a:bodyPr wrap="square">
            <a:noAutofit/>
          </a:bodyPr>
          <a:lstStyle/>
          <a:p>
            <a:pPr marL="0" indent="0">
              <a:buNone/>
            </a:pPr>
            <a:r>
              <a:rPr lang="en-US" dirty="0">
                <a:solidFill>
                  <a:srgbClr val="404040"/>
                </a:solidFill>
                <a:latin typeface="Times New Roman" panose="02020603050405020304" pitchFamily="18" charset="0"/>
                <a:cs typeface="Times New Roman" panose="02020603050405020304" pitchFamily="18" charset="0"/>
              </a:rPr>
              <a:t>Zaid-season losses are consistent across nearly every state, indicating a systemic seasonal effect.</a:t>
            </a:r>
            <a:endParaRPr lang="en-IN" sz="3200" dirty="0">
              <a:latin typeface="Times New Roman" panose="02020603050405020304" pitchFamily="18" charset="0"/>
              <a:cs typeface="Times New Roman" panose="02020603050405020304" pitchFamily="18" charset="0"/>
            </a:endParaRPr>
          </a:p>
        </p:txBody>
      </p:sp>
      <p:pic>
        <p:nvPicPr>
          <p:cNvPr id="31" name="Picture 30" descr="08_state_profit_season.png"/>
          <p:cNvPicPr>
            <a:picLocks noChangeAspect="1"/>
          </p:cNvPicPr>
          <p:nvPr/>
        </p:nvPicPr>
        <p:blipFill>
          <a:blip r:embed="rId3"/>
          <a:stretch>
            <a:fillRect/>
          </a:stretch>
        </p:blipFill>
        <p:spPr>
          <a:xfrm>
            <a:off x="502920" y="2148840"/>
            <a:ext cx="7962900" cy="43434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539480" y="1201586"/>
            <a:ext cx="7430947" cy="3378516"/>
          </a:xfrm>
          <a:prstGeom prst="rect">
            <a:avLst/>
          </a:prstGeom>
        </p:spPr>
        <p:txBody>
          <a:bodyPr vert="horz" wrap="square"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spcAft>
                <a:spcPts val="800"/>
              </a:spcAft>
            </a:pPr>
            <a:r>
              <a:rPr sz="2000" dirty="0">
                <a:solidFill>
                  <a:srgbClr val="222222"/>
                </a:solidFill>
                <a:latin typeface="Times New Roman" panose="02020603050405020304" pitchFamily="18" charset="0"/>
                <a:cs typeface="Times New Roman" panose="02020603050405020304" pitchFamily="18" charset="0"/>
              </a:rPr>
              <a:t>•  Incorporate real-time weather &amp; satellite data for dynamic, season-aware forecasting</a:t>
            </a:r>
            <a:endParaRPr lang="en-GB" sz="2800" dirty="0">
              <a:latin typeface="Times New Roman" panose="02020603050405020304" pitchFamily="18" charset="0"/>
              <a:cs typeface="Times New Roman" panose="02020603050405020304" pitchFamily="18" charset="0"/>
            </a:endParaRPr>
          </a:p>
          <a:p>
            <a:pPr algn="l">
              <a:spcAft>
                <a:spcPts val="800"/>
              </a:spcAft>
            </a:pPr>
            <a:r>
              <a:rPr sz="2000" dirty="0">
                <a:solidFill>
                  <a:srgbClr val="222222"/>
                </a:solidFill>
                <a:latin typeface="Times New Roman" panose="02020603050405020304" pitchFamily="18" charset="0"/>
                <a:cs typeface="Times New Roman" panose="02020603050405020304" pitchFamily="18" charset="0"/>
              </a:rPr>
              <a:t>•  Build a predictive ML model to forecast profit/yield risk before a season begins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539480" y="2890844"/>
            <a:ext cx="7301686" cy="2368582"/>
          </a:xfrm>
          <a:prstGeom prst="rect">
            <a:avLst/>
          </a:prstGeom>
        </p:spPr>
        <p:txBody>
          <a:bodyPr vert="horz" wrap="square"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spcAft>
                <a:spcPts val="800"/>
              </a:spcAft>
            </a:pPr>
            <a:r>
              <a:rPr sz="2000" dirty="0">
                <a:solidFill>
                  <a:srgbClr val="222222"/>
                </a:solidFill>
                <a:latin typeface="Times New Roman" panose="02020603050405020304" pitchFamily="18" charset="0"/>
                <a:cs typeface="Times New Roman" panose="02020603050405020304" pitchFamily="18" charset="0"/>
              </a:rPr>
              <a:t>•  Extend analysis to district &amp; farm-level granularity for hyper-local recommendations</a:t>
            </a:r>
            <a:endParaRPr lang="en-GB" sz="2800" dirty="0">
              <a:latin typeface="Times New Roman" panose="02020603050405020304" pitchFamily="18" charset="0"/>
              <a:cs typeface="Times New Roman" panose="02020603050405020304" pitchFamily="18" charset="0"/>
            </a:endParaRPr>
          </a:p>
          <a:p>
            <a:pPr algn="l">
              <a:spcAft>
                <a:spcPts val="800"/>
              </a:spcAft>
            </a:pPr>
            <a:r>
              <a:rPr sz="2000" dirty="0">
                <a:solidFill>
                  <a:srgbClr val="222222"/>
                </a:solidFill>
                <a:latin typeface="Times New Roman" panose="02020603050405020304" pitchFamily="18" charset="0"/>
                <a:cs typeface="Times New Roman" panose="02020603050405020304" pitchFamily="18" charset="0"/>
              </a:rPr>
              <a:t>•  Develop a farmer-facing dashboard/app to deliver these insights in the field</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029506" y="2750505"/>
            <a:ext cx="7232875"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https://github.com/shelkechaitanya2678-spec/-Data-Analytics-Internship.git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2C8E7FD-E3DC-400D-8638-F618ACF5E818}"/>
              </a:ext>
            </a:extLst>
          </p:cNvPr>
          <p:cNvPicPr>
            <a:picLocks noChangeAspect="1"/>
          </p:cNvPicPr>
          <p:nvPr/>
        </p:nvPicPr>
        <p:blipFill>
          <a:blip r:embed="rId3"/>
          <a:stretch>
            <a:fillRect/>
          </a:stretch>
        </p:blipFill>
        <p:spPr>
          <a:xfrm>
            <a:off x="675957" y="1386839"/>
            <a:ext cx="8577225" cy="510057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3078943"/>
            <a:ext cx="11340000" cy="700114"/>
          </a:xfrm>
          <a:prstGeom prst="rect">
            <a:avLst/>
          </a:prstGeom>
        </p:spPr>
        <p:txBody>
          <a:bodyPr anchor="ctr">
            <a:noAutofit/>
          </a:bodyPr>
          <a:lstStyle/>
          <a:p>
            <a:pPr algn="ctr"/>
            <a:r>
              <a:rPr lang="en-US" sz="80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1369</TotalTime>
  <Words>709</Words>
  <Application>Microsoft Office PowerPoint</Application>
  <PresentationFormat>Widescreen</PresentationFormat>
  <Paragraphs>47</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Times New Roman</vt:lpstr>
      <vt:lpstr>Trebuchet MS</vt:lpstr>
      <vt:lpstr>Wingdings</vt:lpstr>
      <vt:lpstr>Wingdings 3</vt:lpstr>
      <vt:lpstr>Facet</vt:lpstr>
      <vt:lpstr>Project Title - Seasonal Agriculture Performance Analysis</vt:lpstr>
      <vt:lpstr>PROBLEM  STATEMENT</vt:lpstr>
      <vt:lpstr>Project Description This project analyzes a dataset of 4,000 farm records across three cropping seasons (Kharif, Rabi, Zaid), 8 Indian states, and 8 crops, to uncover how environmental conditions, resource usage, and economic outcomes vary seasonally. After cleaning and preparing the data, statistical tests (ANOVA, correlation) and visualizations (box plots, heatmaps, bar charts) were used to compare seasons on yield, profitability, water efficiency, and disease/pest risk. The analysis reveals that profitability - not raw yield - is the sharpest seasonal differentiator, with the Zaid season showing the highest share of loss-making farms due to low rainfall and high irrigation dependency. Findings are translated into actionable, evidence-based recommendations for seasonal agricultural planning. </vt:lpstr>
      <vt:lpstr>WHO ARE THE END USERS?</vt:lpstr>
      <vt:lpstr>Technology Used</vt:lpstr>
      <vt:lpstr>1. Yield Performance by Season</vt:lpstr>
      <vt:lpstr>2. Profitability by Season</vt:lpstr>
      <vt:lpstr>3. Rainfall &amp; Temperature by Season</vt:lpstr>
      <vt:lpstr>4. Water Efficiency by Irrigation Method</vt:lpstr>
      <vt:lpstr>5. Correlation Between Key Variables</vt:lpstr>
      <vt:lpstr>6. Average Yield by Crop Across Seasons</vt:lpstr>
      <vt:lpstr>7. Disease &amp; Pest Risk by Season</vt:lpstr>
      <vt:lpstr>8. State-wise Profit by Season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Chaitanya Shelke</cp:lastModifiedBy>
  <cp:revision>99</cp:revision>
  <dcterms:created xsi:type="dcterms:W3CDTF">2021-07-11T13:13:15Z</dcterms:created>
  <dcterms:modified xsi:type="dcterms:W3CDTF">2026-09-06T18:11:37Z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